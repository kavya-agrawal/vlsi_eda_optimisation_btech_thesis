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Safe Algorithm Evolution for OpenROAD</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correctness-gated framework for placement, routing and timing closure research</a:t>
            </a:r>
            <a:br/>
            <a:br/>
            <a:r>
              <a:rPr/>
              <a:t>VLSI EDA Optimisation BTech Thesis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focus</a:t>
            </a:r>
          </a:p>
        </p:txBody>
      </p:sp>
      <p:sp>
        <p:nvSpPr>
          <p:cNvPr id="3" name="Content Placeholder 2"/>
          <p:cNvSpPr>
            <a:spLocks noGrp="1"/>
          </p:cNvSpPr>
          <p:nvPr>
            <p:ph idx="1"/>
          </p:nvPr>
        </p:nvSpPr>
        <p:spPr/>
        <p:txBody>
          <a:bodyPr/>
          <a:lstStyle/>
          <a:p>
            <a:pPr lvl="0" indent="0" marL="0">
              <a:spcBef>
                <a:spcPts val="3000"/>
              </a:spcBef>
              <a:buNone/>
            </a:pPr>
            <a:r>
              <a:rPr b="1"/>
              <a:t>A small algorithm with full-flow consequences</a:t>
            </a:r>
          </a:p>
          <a:p>
            <a:pPr lvl="0" indent="0" marL="0">
              <a:buNone/>
            </a:pPr>
            <a:r>
              <a:rPr b="1"/>
              <a:t>Target</a:t>
            </a:r>
          </a:p>
          <a:p>
            <a:pPr lvl="0" indent="0" marL="0">
              <a:buNone/>
            </a:pPr>
            <a:r>
              <a:rPr>
                <a:latin typeface="Courier"/>
              </a:rPr>
              <a:t>OptimizeMirroring::mirrorCandidates</a:t>
            </a:r>
            <a:r>
              <a:rPr/>
              <a:t> in OpenDP detailed placement</a:t>
            </a:r>
          </a:p>
          <a:p>
            <a:pPr lvl="0" indent="0" marL="0">
              <a:buNone/>
            </a:pPr>
            <a:r>
              <a:rPr b="1"/>
              <a:t>Evolved decision</a:t>
            </a:r>
          </a:p>
          <a:p>
            <a:pPr lvl="0" indent="0" marL="0">
              <a:buNone/>
            </a:pPr>
            <a:r>
              <a:rPr/>
              <a:t>Candidate ordering based on two bounded coefficients:</a:t>
            </a:r>
          </a:p>
          <a:p>
            <a:pPr lvl="0" indent="0" marL="0">
              <a:buNone/>
            </a:pPr>
            <a:r>
              <a:rPr>
                <a:latin typeface="Courier"/>
              </a:rPr>
              <a:t>priority = a log1p(local HPWL) + b log1p(pin degree)</a:t>
            </a:r>
          </a:p>
          <a:p>
            <a:pPr lvl="0" indent="0" marL="0">
              <a:buNone/>
            </a:pPr>
            <a:r>
              <a:rPr b="1"/>
              <a:t>Why it matters</a:t>
            </a:r>
          </a:p>
          <a:p>
            <a:pPr lvl="0" indent="0" marL="0">
              <a:buNone/>
            </a:pPr>
            <a:r>
              <a:rPr/>
              <a:t>Cell orientation changes propagate through placement, clock-tree synthesis, routing, extraction and OpenSTA timing analysis.</a:t>
            </a:r>
          </a:p>
          <a:p>
            <a:pPr lvl="0" indent="0" marL="0">
              <a:buNone/>
            </a:pPr>
            <a:r>
              <a:rPr/>
              <a:t>The policy ranks legal attempts. Existing OpenDP checks still decide whether a cell may flip.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 containment</a:t>
            </a:r>
          </a:p>
        </p:txBody>
      </p:sp>
      <p:pic>
        <p:nvPicPr>
          <p:cNvPr descr="presentation_assets/containment-boundary.png" id="0" name="Picture 1"/>
          <p:cNvPicPr>
            <a:picLocks noGrp="1" noChangeAspect="1"/>
          </p:cNvPicPr>
          <p:nvPr/>
        </p:nvPicPr>
        <p:blipFill>
          <a:blip r:embed="rId2"/>
          <a:stretch>
            <a:fillRect/>
          </a:stretch>
        </p:blipFill>
        <p:spPr bwMode="auto">
          <a:xfrm>
            <a:off x="1562100" y="1193800"/>
            <a:ext cx="60198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Automated evolution loop</a:t>
            </a:r>
          </a:p>
        </p:txBody>
      </p:sp>
      <p:pic>
        <p:nvPicPr>
          <p:cNvPr descr="presentation_assets/evolution-loop.png" id="0" name="Picture 1"/>
          <p:cNvPicPr>
            <a:picLocks noGrp="1" noChangeAspect="1"/>
          </p:cNvPicPr>
          <p:nvPr/>
        </p:nvPicPr>
        <p:blipFill>
          <a:blip r:embed="rId2"/>
          <a:stretch>
            <a:fillRect/>
          </a:stretch>
        </p:blipFill>
        <p:spPr bwMode="auto">
          <a:xfrm>
            <a:off x="1562100" y="1193800"/>
            <a:ext cx="60198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Correctness gates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Layer</a:t>
                      </a:r>
                    </a:p>
                  </a:txBody>
                  <a:tcPr/>
                </a:tc>
                <a:tc>
                  <a:txBody>
                    <a:bodyPr/>
                    <a:lstStyle/>
                    <a:p>
                      <a:pPr lvl="0" indent="0" marL="0" algn="l">
                        <a:buNone/>
                      </a:pPr>
                      <a:r>
                        <a:rPr/>
                        <a:t>Required result</a:t>
                      </a:r>
                    </a:p>
                  </a:txBody>
                  <a:tcPr/>
                </a:tc>
              </a:tr>
              <a:tr h="0">
                <a:tc>
                  <a:txBody>
                    <a:bodyPr/>
                    <a:lstStyle/>
                    <a:p>
                      <a:pPr lvl="0" indent="0" marL="0" algn="l">
                        <a:buNone/>
                      </a:pPr>
                      <a:r>
                        <a:rPr/>
                        <a:t>Source integrity</a:t>
                      </a:r>
                    </a:p>
                  </a:txBody>
                </a:tc>
                <a:tc>
                  <a:txBody>
                    <a:bodyPr/>
                    <a:lstStyle/>
                    <a:p>
                      <a:pPr lvl="0" indent="0" marL="0" algn="l">
                        <a:buNone/>
                      </a:pPr>
                      <a:r>
                        <a:rPr/>
                        <a:t>Pinned OpenROAD and ORFS revisions, clean tracked flow files, exact </a:t>
                      </a:r>
                      <a:r>
                        <a:rPr>
                          <a:latin typeface="Courier"/>
                        </a:rPr>
                        <a:t>OptMirror.cpp</a:t>
                      </a:r>
                      <a:r>
                        <a:rPr/>
                        <a:t> hash</a:t>
                      </a:r>
                    </a:p>
                  </a:txBody>
                </a:tc>
              </a:tr>
              <a:tr h="0">
                <a:tc>
                  <a:txBody>
                    <a:bodyPr/>
                    <a:lstStyle/>
                    <a:p>
                      <a:pPr lvl="0" indent="0" marL="0" algn="l">
                        <a:buNone/>
                      </a:pPr>
                      <a:r>
                        <a:rPr/>
                        <a:t>Build</a:t>
                      </a:r>
                    </a:p>
                  </a:txBody>
                </a:tc>
                <a:tc>
                  <a:txBody>
                    <a:bodyPr/>
                    <a:lstStyle/>
                    <a:p>
                      <a:pPr lvl="0" indent="0" marL="0" algn="l">
                        <a:buNone/>
                      </a:pPr>
                      <a:r>
                        <a:rPr/>
                        <a:t>Candidate OpenROAD executable compiles</a:t>
                      </a:r>
                    </a:p>
                  </a:txBody>
                </a:tc>
              </a:tr>
              <a:tr h="0">
                <a:tc>
                  <a:txBody>
                    <a:bodyPr/>
                    <a:lstStyle/>
                    <a:p>
                      <a:pPr lvl="0" indent="0" marL="0" algn="l">
                        <a:buNone/>
                      </a:pPr>
                      <a:r>
                        <a:rPr/>
                        <a:t>Regression</a:t>
                      </a:r>
                    </a:p>
                  </a:txBody>
                </a:tc>
                <a:tc>
                  <a:txBody>
                    <a:bodyPr/>
                    <a:lstStyle/>
                    <a:p>
                      <a:pPr lvl="0" indent="0" marL="0" algn="l">
                        <a:buNone/>
                      </a:pPr>
                      <a:r>
                        <a:rPr>
                          <a:latin typeface="Courier"/>
                        </a:rPr>
                        <a:t>mirror1</a:t>
                      </a:r>
                      <a:r>
                        <a:rPr/>
                        <a:t>, </a:t>
                      </a:r>
                      <a:r>
                        <a:rPr>
                          <a:latin typeface="Courier"/>
                        </a:rPr>
                        <a:t>mirror2</a:t>
                      </a:r>
                      <a:r>
                        <a:rPr/>
                        <a:t>, </a:t>
                      </a:r>
                      <a:r>
                        <a:rPr>
                          <a:latin typeface="Courier"/>
                        </a:rPr>
                        <a:t>mirror3</a:t>
                      </a:r>
                      <a:r>
                        <a:rPr/>
                        <a:t> and </a:t>
                      </a:r>
                      <a:r>
                        <a:rPr>
                          <a:latin typeface="Courier"/>
                        </a:rPr>
                        <a:t>mirror_edge_spacing</a:t>
                      </a:r>
                      <a:r>
                        <a:rPr/>
                        <a:t> pass</a:t>
                      </a:r>
                    </a:p>
                  </a:txBody>
                </a:tc>
              </a:tr>
              <a:tr h="0">
                <a:tc>
                  <a:txBody>
                    <a:bodyPr/>
                    <a:lstStyle/>
                    <a:p>
                      <a:pPr lvl="0" indent="0" marL="0" algn="l">
                        <a:buNone/>
                      </a:pPr>
                      <a:r>
                        <a:rPr/>
                        <a:t>Full flow</a:t>
                      </a:r>
                    </a:p>
                  </a:txBody>
                </a:tc>
                <a:tc>
                  <a:txBody>
                    <a:bodyPr/>
                    <a:lstStyle/>
                    <a:p>
                      <a:pPr lvl="0" indent="0" marL="0" algn="l">
                        <a:buNone/>
                      </a:pPr>
                      <a:r>
                        <a:rPr/>
                        <a:t>Five paired seed-controlled ORFS runs complete</a:t>
                      </a:r>
                    </a:p>
                  </a:txBody>
                </a:tc>
              </a:tr>
              <a:tr h="0">
                <a:tc>
                  <a:txBody>
                    <a:bodyPr/>
                    <a:lstStyle/>
                    <a:p>
                      <a:pPr lvl="0" indent="0" marL="0" algn="l">
                        <a:buNone/>
                      </a:pPr>
                      <a:r>
                        <a:rPr/>
                        <a:t>Physical validity</a:t>
                      </a:r>
                    </a:p>
                  </a:txBody>
                </a:tc>
                <a:tc>
                  <a:txBody>
                    <a:bodyPr/>
                    <a:lstStyle/>
                    <a:p>
                      <a:pPr lvl="0" indent="0" marL="0" algn="l">
                        <a:buNone/>
                      </a:pPr>
                      <a:r>
                        <a:rPr/>
                        <a:t>Placement violations = 0, DRC errors = 0, antenna violations = 0</a:t>
                      </a:r>
                    </a:p>
                  </a:txBody>
                </a:tc>
              </a:tr>
              <a:tr h="0">
                <a:tc>
                  <a:txBody>
                    <a:bodyPr/>
                    <a:lstStyle/>
                    <a:p>
                      <a:pPr lvl="0" indent="0" marL="0" algn="l">
                        <a:buNone/>
                      </a:pPr>
                      <a:r>
                        <a:rPr/>
                        <a:t>Timing and reporting</a:t>
                      </a:r>
                    </a:p>
                  </a:txBody>
                </a:tc>
                <a:tc>
                  <a:txBody>
                    <a:bodyPr/>
                    <a:lstStyle/>
                    <a:p>
                      <a:pPr lvl="0" indent="0" marL="0" algn="l">
                        <a:buNone/>
                      </a:pPr>
                      <a:r>
                        <a:rPr/>
                        <a:t>Setup/hold WNS and TNS, routed wirelength and runtime are finite</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Quality score and promotion</a:t>
            </a:r>
          </a:p>
        </p:txBody>
      </p:sp>
      <p:sp>
        <p:nvSpPr>
          <p:cNvPr id="3" name="Content Placeholder 2"/>
          <p:cNvSpPr>
            <a:spLocks noGrp="1"/>
          </p:cNvSpPr>
          <p:nvPr>
            <p:ph idx="1"/>
          </p:nvPr>
        </p:nvSpPr>
        <p:spPr/>
        <p:txBody>
          <a:bodyPr/>
          <a:lstStyle/>
          <a:p>
            <a:pPr lvl="0" indent="0" marL="0">
              <a:spcBef>
                <a:spcPts val="3000"/>
              </a:spcBef>
              <a:buNone/>
            </a:pPr>
            <a:r>
              <a:rPr b="1"/>
              <a:t>Bounded composite score</a:t>
            </a:r>
          </a:p>
          <a:p>
            <a:pPr lvl="0" indent="0" marL="0">
              <a:buNone/>
            </a:pPr>
            <a:r>
              <a:rPr>
                <a:latin typeface="Courier"/>
              </a:rPr>
              <a:t>S = .30 Δsetup-WNS + .25 Δsetup-TNS + .15 Δhold-WNS + .15 Δhold-TNS + .10 Δwirelength + .05 Δruntime</a:t>
            </a:r>
          </a:p>
          <a:p>
            <a:pPr lvl="0" indent="0" marL="0">
              <a:buNone/>
            </a:pPr>
            <a:r>
              <a:rPr/>
              <a:t>Each normalized term is clipped to </a:t>
            </a:r>
            <a:r>
              <a:rPr>
                <a:latin typeface="Courier"/>
              </a:rPr>
              <a:t>[-1, 1]</a:t>
            </a:r>
            <a:r>
              <a:rPr/>
              <a:t>. A near-zero baseline cannot dominate the score.</a:t>
            </a:r>
          </a:p>
          <a:p>
            <a:pPr lvl="0" indent="0" marL="0">
              <a:spcBef>
                <a:spcPts val="3000"/>
              </a:spcBef>
              <a:buNone/>
            </a:pPr>
            <a:r>
              <a:rPr b="1"/>
              <a:t>Training promotion requires</a:t>
            </a:r>
          </a:p>
          <a:p>
            <a:pPr lvl="0"/>
            <a:r>
              <a:rPr/>
              <a:t>no median setup or hold timing regression</a:t>
            </a:r>
          </a:p>
          <a:p>
            <a:pPr lvl="0"/>
            <a:r>
              <a:rPr/>
              <a:t>routed wirelength regression no greater than 0.5 percent</a:t>
            </a:r>
          </a:p>
          <a:p>
            <a:pPr lvl="0"/>
            <a:r>
              <a:rPr/>
              <a:t>runtime regression no greater than 10 percent</a:t>
            </a:r>
          </a:p>
          <a:p>
            <a:pPr lvl="0"/>
            <a:r>
              <a:rPr/>
              <a:t>positive composite score on every paired seed</a:t>
            </a:r>
          </a:p>
          <a:p>
            <a:pPr lvl="0"/>
            <a:r>
              <a:rPr/>
              <a:t>paired percentile-bootstrap lower bound above 0.002</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Evidence and research claim</a:t>
            </a:r>
          </a:p>
        </p:txBody>
      </p:sp>
      <p:sp>
        <p:nvSpPr>
          <p:cNvPr id="3" name="Content Placeholder 2"/>
          <p:cNvSpPr>
            <a:spLocks noGrp="1"/>
          </p:cNvSpPr>
          <p:nvPr>
            <p:ph idx="1"/>
          </p:nvPr>
        </p:nvSpPr>
        <p:spPr/>
        <p:txBody>
          <a:bodyPr/>
          <a:lstStyle/>
          <a:p>
            <a:pPr lvl="0" indent="0" marL="0">
              <a:spcBef>
                <a:spcPts val="3000"/>
              </a:spcBef>
              <a:buNone/>
            </a:pPr>
            <a:r>
              <a:rPr b="1"/>
              <a:t>Held-out verification</a:t>
            </a:r>
          </a:p>
          <a:p>
            <a:pPr lvl="0" indent="0" marL="0">
              <a:buNone/>
            </a:pPr>
            <a:r>
              <a:rPr/>
              <a:t>The </a:t>
            </a:r>
            <a:r>
              <a:rPr>
                <a:latin typeface="Courier"/>
              </a:rPr>
              <a:t>verify</a:t>
            </a:r>
            <a:r>
              <a:rPr/>
              <a:t> command reruns a training-promoted policy on </a:t>
            </a:r>
            <a:r>
              <a:rPr>
                <a:latin typeface="Courier"/>
              </a:rPr>
              <a:t>nangate45/aes</a:t>
            </a:r>
            <a:r>
              <a:rPr/>
              <a:t> and </a:t>
            </a:r>
            <a:r>
              <a:rPr>
                <a:latin typeface="Courier"/>
              </a:rPr>
              <a:t>nangate45/ibex</a:t>
            </a:r>
            <a:r>
              <a:rPr/>
              <a:t> with the same gates and seed set.</a:t>
            </a:r>
          </a:p>
          <a:p>
            <a:pPr lvl="0" indent="0" marL="0">
              <a:spcBef>
                <a:spcPts val="3000"/>
              </a:spcBef>
              <a:buNone/>
            </a:pPr>
            <a:r>
              <a:rPr b="1"/>
              <a:t>Evidence retained</a:t>
            </a:r>
          </a:p>
          <a:p>
            <a:pPr lvl="0" indent="0" marL="0">
              <a:buNone/>
            </a:pPr>
            <a:r>
              <a:rPr/>
              <a:t>Exact generated header, source revisions, config digest, flow seeds, logs, METRICS2.1 results and rejection reasons.</a:t>
            </a:r>
          </a:p>
          <a:p>
            <a:pPr lvl="0" indent="0" marL="0">
              <a:spcBef>
                <a:spcPts val="3000"/>
              </a:spcBef>
              <a:buNone/>
            </a:pPr>
            <a:r>
              <a:rPr b="1"/>
              <a:t>Claim boundary</a:t>
            </a:r>
          </a:p>
          <a:p>
            <a:pPr lvl="0" indent="0" marL="0">
              <a:buNone/>
            </a:pPr>
            <a:r>
              <a:rPr/>
              <a:t>The framework supports a reproducible empirical result on selected ORFS benchmarks. It does not claim universal correctness across every design, PDK, corner or silicon implementation. The framework never merges candidate code into upstream OpenROAD automatically.</a:t>
            </a:r>
          </a:p>
          <a:p>
            <a:pPr lvl="0" indent="0" marL="0">
              <a:buNone/>
            </a:pPr>
            <a:r>
              <a:rPr/>
              <a:t>Sources: project </a:t>
            </a:r>
            <a:r>
              <a:rPr>
                <a:latin typeface="Courier"/>
              </a:rPr>
              <a:t>README.md</a:t>
            </a:r>
            <a:r>
              <a:rPr/>
              <a:t>, </a:t>
            </a:r>
            <a:r>
              <a:rPr>
                <a:latin typeface="Courier"/>
              </a:rPr>
              <a:t>DESIGN.md</a:t>
            </a:r>
            <a:r>
              <a:rPr/>
              <a:t>, pinned OpenROAD and ORFS sources, and the supplied AlphaEvolve, Autonomous EDA Tools, EvoDRC and VPR-Evolve papers.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Algorithm Evolution for OpenROAD</dc:title>
  <dc:creator>VLSI EDA Optimisation BTech Thesis</dc:creator>
  <cp:keywords/>
  <dcterms:created xsi:type="dcterms:W3CDTF">2026-09-07T08:55:08Z</dcterms:created>
  <dcterms:modified xsi:type="dcterms:W3CDTF">2026-09-07T08:55:08Z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date">
    <vt:lpwstr/>
  </property>
  <property fmtid="{D5CDD505-2E9C-101B-9397-08002B2CF9AE}" pid="4" name="subtitle">
    <vt:lpwstr>A correctness-gated framework for placement, routing and timing closure research</vt:lpwstr>
  </property>
</Properties>
</file>