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Safe Algorithm Evolution for OpenROAD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constrained BTP framework for placement, routing and timing closure research</a:t>
            </a:r>
            <a:br/>
            <a:br/>
            <a:r>
              <a:rPr/>
              <a:t>VLSI EDA Optimisation BTech Thesis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Research target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Target:</a:t>
            </a:r>
            <a:r>
              <a:rPr/>
              <a:t> </a:t>
            </a:r>
            <a:r>
              <a:rPr>
                <a:latin typeface="Courier"/>
              </a:rPr>
              <a:t>OptimizeMirroring::mirrorCandidates</a:t>
            </a:r>
            <a:r>
              <a:rPr/>
              <a:t> in OpenDP detailed placement</a:t>
            </a:r>
          </a:p>
          <a:p>
            <a:pPr lvl="0" indent="0" marL="0">
              <a:buNone/>
            </a:pPr>
            <a:r>
              <a:rPr/>
              <a:t>The algorithm changes only the order in which already legal standard-cell mirror attempts run. Each accepted action still passes the upstream edge-spacing and non-increasing local-HPWL checks.</a:t>
            </a:r>
          </a:p>
          <a:p>
            <a:pPr lvl="0" indent="0" marL="0">
              <a:buNone/>
            </a:pPr>
            <a:r>
              <a:rPr b="1"/>
              <a:t>Evolving artifact</a:t>
            </a:r>
          </a:p>
          <a:p>
            <a:pPr lvl="0" indent="0" marL="0">
              <a:buNone/>
            </a:pPr>
            <a:r>
              <a:rPr/>
              <a:t>Two bounded coefficients rank candidates using </a:t>
            </a:r>
            <a:r>
              <a:rPr>
                <a:latin typeface="Courier"/>
              </a:rPr>
              <a:t>log1p(local HPWL)</a:t>
            </a:r>
            <a:r>
              <a:rPr/>
              <a:t> and pin degree. Instance ID only breaks exact ties.</a:t>
            </a:r>
          </a:p>
          <a:p>
            <a:pPr lvl="0" indent="0" marL="0">
              <a:buNone/>
            </a:pPr>
            <a:r>
              <a:rPr b="1"/>
              <a:t>Why this target fits a BTP</a:t>
            </a:r>
          </a:p>
          <a:p>
            <a:pPr lvl="0" indent="0" marL="0">
              <a:buNone/>
            </a:pPr>
            <a:r>
              <a:rPr/>
              <a:t>The code is small and interpretable, but its cell orientations propagate through the complete OpenROAD flow: placement, CTS, routing, extraction and timing.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Containment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Pinned source</a:t>
            </a:r>
          </a:p>
          <a:p>
            <a:pPr lvl="1" indent="0" marL="342900">
              <a:buNone/>
            </a:pPr>
            <a:r>
              <a:rPr/>
              <a:t>The runner checks the OpenROAD revision, ORFS revision and every nested submodule before it builds.</a:t>
            </a:r>
          </a:p>
          <a:p>
            <a:pPr lvl="0" indent="-342900" marL="342900">
              <a:buAutoNum type="arabicPeriod"/>
            </a:pPr>
            <a:r>
              <a:rPr b="1"/>
              <a:t>Fixed safety seam</a:t>
            </a:r>
          </a:p>
          <a:p>
            <a:pPr lvl="1" indent="0" marL="342900">
              <a:buNone/>
            </a:pPr>
            <a:r>
              <a:rPr>
                <a:latin typeface="Courier"/>
              </a:rPr>
              <a:t>OptMirror.cpp</a:t>
            </a:r>
            <a:r>
              <a:rPr/>
              <a:t> must match a recorded SHA-256 hash. The patch retains OpenDP legality and local-HPWL rollback logic.</a:t>
            </a:r>
          </a:p>
          <a:p>
            <a:pPr lvl="0" indent="-342900" marL="342900">
              <a:buAutoNum type="arabicPeriod"/>
            </a:pPr>
            <a:r>
              <a:rPr b="1"/>
              <a:t>Generated header only</a:t>
            </a:r>
          </a:p>
          <a:p>
            <a:pPr lvl="1" indent="0" marL="342900">
              <a:buNone/>
            </a:pPr>
            <a:r>
              <a:rPr/>
              <a:t>Evolution may rewrite </a:t>
            </a:r>
            <a:r>
              <a:rPr>
                <a:latin typeface="Courier"/>
              </a:rPr>
              <a:t>EvolvedMirrorPolicy.h</a:t>
            </a:r>
            <a:r>
              <a:rPr/>
              <a:t> and nothing else. The header has finite coefficients in </a:t>
            </a:r>
            <a:r>
              <a:rPr>
                <a:latin typeface="Courier"/>
              </a:rPr>
              <a:t>[-5, 5]</a:t>
            </a:r>
            <a:r>
              <a:rPr/>
              <a:t> and deterministic tie breaking.</a:t>
            </a:r>
          </a:p>
          <a:p>
            <a:pPr lvl="0" indent="-342900" marL="342900">
              <a:buAutoNum type="arabicPeriod"/>
            </a:pPr>
            <a:r>
              <a:rPr b="1"/>
              <a:t>Reproducible record</a:t>
            </a:r>
          </a:p>
          <a:p>
            <a:pPr lvl="1" indent="0" marL="342900">
              <a:buNone/>
            </a:pPr>
            <a:r>
              <a:rPr/>
              <a:t>Each run saves the exact header, source revisions, configuration digest, seeds, commands, metrics, logs and rejection reasons.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Evaluation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 Restore and verify the pinned worktree</a:t>
            </a:r>
          </a:p>
          <a:p>
            <a:pPr lvl="0" indent="0" marL="0">
              <a:buNone/>
            </a:pPr>
            <a:r>
              <a:rPr b="1"/>
              <a:t>2 Compile the candidate OpenROAD executable</a:t>
            </a:r>
          </a:p>
          <a:p>
            <a:pPr lvl="0" indent="0" marL="0">
              <a:buNone/>
            </a:pPr>
            <a:r>
              <a:rPr b="1"/>
              <a:t>3 Run four upstream OptMirror regressions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mirror1</a:t>
            </a:r>
            <a:r>
              <a:rPr/>
              <a:t>, </a:t>
            </a:r>
            <a:r>
              <a:rPr>
                <a:latin typeface="Courier"/>
              </a:rPr>
              <a:t>mirror2</a:t>
            </a:r>
            <a:r>
              <a:rPr/>
              <a:t>, </a:t>
            </a:r>
            <a:r>
              <a:rPr>
                <a:latin typeface="Courier"/>
              </a:rPr>
              <a:t>mirror3</a:t>
            </a:r>
            <a:r>
              <a:rPr/>
              <a:t>, </a:t>
            </a:r>
            <a:r>
              <a:rPr>
                <a:latin typeface="Courier"/>
              </a:rPr>
              <a:t>mirror_edge_spacing</a:t>
            </a:r>
          </a:p>
          <a:p>
            <a:pPr lvl="0" indent="0" marL="0">
              <a:buNone/>
            </a:pPr>
            <a:r>
              <a:rPr b="1"/>
              <a:t>4 Run five paired ORFS RTL-to-GDS flows</a:t>
            </a:r>
          </a:p>
          <a:p>
            <a:pPr lvl="0" indent="0" marL="0">
              <a:buNone/>
            </a:pPr>
            <a:r>
              <a:rPr/>
              <a:t>The stock baseline and candidate use the same five values for </a:t>
            </a:r>
            <a:r>
              <a:rPr>
                <a:latin typeface="Courier"/>
              </a:rPr>
              <a:t>GPL_RANDOM_SEED</a:t>
            </a:r>
            <a:r>
              <a:rPr/>
              <a:t>, </a:t>
            </a:r>
            <a:r>
              <a:rPr>
                <a:latin typeface="Courier"/>
              </a:rPr>
              <a:t>GRT_SEED</a:t>
            </a:r>
            <a:r>
              <a:rPr/>
              <a:t> and </a:t>
            </a:r>
            <a:r>
              <a:rPr>
                <a:latin typeface="Courier"/>
              </a:rPr>
              <a:t>OR_SEED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5 Gate physical validity, then score and archive</a:t>
            </a:r>
          </a:p>
          <a:p>
            <a:pPr lvl="0" indent="0" marL="0">
              <a:buNone/>
            </a:pPr>
            <a:r>
              <a:rPr/>
              <a:t>Any failed stage rejects the candidate before promotion. The framework never merges or writes into the upstream OpenROAD checkout.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Hard correctness 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paired run must satisfy all gates.</a:t>
            </a:r>
          </a:p>
          <a:p>
            <a:pPr lvl="0"/>
            <a:r>
              <a:rPr/>
              <a:t>OpenROAD compiles and all four targeted regressions pass.</a:t>
            </a:r>
          </a:p>
          <a:p>
            <a:pPr lvl="0"/>
            <a:r>
              <a:rPr/>
              <a:t>ORFS completes the selected RTL-to-GDS flow and produces parseable METRICS2.1.</a:t>
            </a:r>
          </a:p>
          <a:p>
            <a:pPr lvl="0"/>
            <a:r>
              <a:rPr/>
              <a:t>Detailed-placement violations equal zero.</a:t>
            </a:r>
          </a:p>
          <a:p>
            <a:pPr lvl="0"/>
            <a:r>
              <a:rPr/>
              <a:t>Detailed-route DRC errors equal zero.</a:t>
            </a:r>
          </a:p>
          <a:p>
            <a:pPr lvl="0"/>
            <a:r>
              <a:rPr/>
              <a:t>Antenna violations equal zero.</a:t>
            </a:r>
          </a:p>
          <a:p>
            <a:pPr lvl="0"/>
            <a:r>
              <a:rPr/>
              <a:t>Setup and hold WNS/TNS, routed wirelength and runtime are finite.</a:t>
            </a:r>
          </a:p>
          <a:p>
            <a:pPr lvl="0" indent="0" marL="0">
              <a:buNone/>
            </a:pPr>
            <a:r>
              <a:rPr/>
              <a:t>These gates protect physical flow integrity. They do not establish a formal proof of silicon correctness.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QoR decision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bounded composite score is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S = .30 Δsetup-WNS + .25 Δsetup-TNS + .15 Δhold-WNS + .15 Δhold-TNS + .10 Δwirelength + .05 Δruntime</a:t>
            </a:r>
          </a:p>
          <a:p>
            <a:pPr lvl="0" indent="0" marL="0">
              <a:buNone/>
            </a:pPr>
            <a:r>
              <a:rPr/>
              <a:t>Each normalized delta is clipped to </a:t>
            </a:r>
            <a:r>
              <a:rPr>
                <a:latin typeface="Courier"/>
              </a:rPr>
              <a:t>[-1, 1]</a:t>
            </a:r>
            <a:r>
              <a:rPr/>
              <a:t>. A near-zero baseline therefore cannot dominate the score.</a:t>
            </a:r>
          </a:p>
          <a:p>
            <a:pPr lvl="0" indent="0" marL="0">
              <a:buNone/>
            </a:pPr>
            <a:r>
              <a:rPr/>
              <a:t>Training promotion requires:</a:t>
            </a:r>
          </a:p>
          <a:p>
            <a:pPr lvl="0"/>
            <a:r>
              <a:rPr/>
              <a:t>no median setup or hold timing regression</a:t>
            </a:r>
          </a:p>
          <a:p>
            <a:pPr lvl="0"/>
            <a:r>
              <a:rPr/>
              <a:t>wirelength regression at most 0.5 percent</a:t>
            </a:r>
          </a:p>
          <a:p>
            <a:pPr lvl="0"/>
            <a:r>
              <a:rPr/>
              <a:t>runtime regression at most 10 percent</a:t>
            </a:r>
          </a:p>
          <a:p>
            <a:pPr lvl="0"/>
            <a:r>
              <a:rPr/>
              <a:t>positive composite score on every paired seed</a:t>
            </a:r>
          </a:p>
          <a:p>
            <a:pPr lvl="0"/>
            <a:r>
              <a:rPr/>
              <a:t>paired percentile-bootstrap lower bound above 0.002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Promotion protocol and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observed training winner is only a research result. It is not an accepted OpenROAD change.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verify</a:t>
            </a:r>
            <a:r>
              <a:rPr/>
              <a:t> command reruns each training-promoted candidate on held-out </a:t>
            </a:r>
            <a:r>
              <a:rPr>
                <a:latin typeface="Courier"/>
              </a:rPr>
              <a:t>nangate45/aes</a:t>
            </a:r>
            <a:r>
              <a:rPr/>
              <a:t> and </a:t>
            </a:r>
            <a:r>
              <a:rPr>
                <a:latin typeface="Courier"/>
              </a:rPr>
              <a:t>nangate45/ibex</a:t>
            </a:r>
            <a:r>
              <a:rPr/>
              <a:t> with the same hard gates and decision rule.</a:t>
            </a:r>
          </a:p>
          <a:p>
            <a:pPr lvl="0" indent="0" marL="0">
              <a:buNone/>
            </a:pPr>
            <a:r>
              <a:rPr b="1"/>
              <a:t>Claim supported by this framework</a:t>
            </a:r>
          </a:p>
          <a:p>
            <a:pPr lvl="0" indent="0" marL="0">
              <a:buNone/>
            </a:pPr>
            <a:r>
              <a:rPr/>
              <a:t>The candidate met a reproducible, conservative empirical gate on selected ORFS benchmarks.</a:t>
            </a:r>
          </a:p>
          <a:p>
            <a:pPr lvl="0" indent="0" marL="0">
              <a:buNone/>
            </a:pPr>
            <a:r>
              <a:rPr b="1"/>
              <a:t>Claim deliberately not made</a:t>
            </a:r>
          </a:p>
          <a:p>
            <a:pPr lvl="0" indent="0" marL="0">
              <a:buNone/>
            </a:pPr>
            <a:r>
              <a:rPr/>
              <a:t>The candidate is 100 percent correct for every design, PDK, corner or silicon implementation.</a:t>
            </a:r>
          </a:p>
          <a:p>
            <a:pPr lvl="0" indent="0" marL="0">
              <a:buNone/>
            </a:pPr>
            <a:r>
              <a:rPr/>
              <a:t>Sources: project </a:t>
            </a:r>
            <a:r>
              <a:rPr>
                <a:latin typeface="Courier"/>
              </a:rPr>
              <a:t>README.md</a:t>
            </a:r>
            <a:r>
              <a:rPr/>
              <a:t>, </a:t>
            </a:r>
            <a:r>
              <a:rPr>
                <a:latin typeface="Courier"/>
              </a:rPr>
              <a:t>DESIGN.md</a:t>
            </a:r>
            <a:r>
              <a:rPr/>
              <a:t>, OpenROAD/ORFS pinned sources, and the supplied AlphaEvolve, Autonomous EDA Tools, EvoDRC and VPR-Evolve papers.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 Algorithm Evolution for OpenROAD</dc:title>
  <dc:creator>VLSI EDA Optimisation BTech Thesis</dc:creator>
  <cp:keywords/>
  <dcterms:created xsi:type="dcterms:W3CDTF">2026-09-06T20:01:54Z</dcterms:created>
  <dcterms:modified xsi:type="dcterms:W3CDTF">2026-09-06T20:01:54Z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/>
  </property>
  <property fmtid="{D5CDD505-2E9C-101B-9397-08002B2CF9AE}" pid="3" name="subtitle">
    <vt:lpwstr>A constrained BTP framework for placement, routing and timing closure research</vt:lpwstr>
  </property>
</Properties>
</file>